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81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63636"/>
                </a:solidFill>
              </a:rPr>
              <a:t>🎓 المنصة التعليمية الذكية (Al-Hekaya)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97706"/>
                </a:solidFill>
              </a:rPr>
              <a:t>الجيل الجديد من إدارة التعليم والخدمة الكنسية 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منصة متكاملة مصممة بأحدث التقنيات البرمجية لتوفير بيئة تعليمية تفاعلية، ذكية، ومحفزة.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363636"/>
                </a:solidFill>
              </a:rPr>
              <a:t>لماذا هذه المنصة؟</a:t>
            </a:r>
            <a:endParaRPr lang="en-US" sz="1800" dirty="0"/>
          </a:p>
          <a:p>
            <a:pPr marL="0" indent="0" algn="r">
              <a:buNone/>
            </a:pPr>
            <a:r>
              <a:rPr lang="en-US" sz="1800" dirty="0">
                <a:solidFill>
                  <a:srgbClr val="363636"/>
                </a:solidFill>
              </a:rPr>
              <a:t>• 🤖 تعتمد على الذكاء الاصطناعي (AI)</a:t>
            </a:r>
            <a:endParaRPr lang="en-US" sz="1800" dirty="0"/>
          </a:p>
          <a:p>
            <a:pPr marL="0" indent="0" algn="r">
              <a:buNone/>
            </a:pPr>
            <a:r>
              <a:rPr lang="en-US" sz="1800" dirty="0">
                <a:solidFill>
                  <a:srgbClr val="363636"/>
                </a:solidFill>
              </a:rPr>
              <a:t>• 🎮 تحفز الطلاب بأسلوب الألعاب (Gamification)</a:t>
            </a:r>
            <a:endParaRPr lang="en-US" sz="1800" dirty="0"/>
          </a:p>
          <a:p>
            <a:pPr marL="0" indent="0" algn="r">
              <a:buNone/>
            </a:pPr>
            <a:r>
              <a:rPr lang="en-US" sz="1800" dirty="0">
                <a:solidFill>
                  <a:srgbClr val="363636"/>
                </a:solidFill>
              </a:rPr>
              <a:t>• ⚡ سريعة وتعمل بدون إنترنت وقت الطوارئ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0B981"/>
                </a:solidFill>
              </a:rPr>
              <a:t>🧠 ١. نظام الاختبارات الذكي (Smart Assessments)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7280"/>
                </a:solidFill>
              </a:rPr>
              <a:t>تقييم دقيق، فوري، ومحمي.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13508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63636"/>
                </a:solidFill>
              </a:rPr>
              <a:t>• تصحيح بالذكاء الاصطناعي: </a:t>
            </a:r>
            <a:r>
              <a:rPr lang="en-US" sz="1800" dirty="0">
                <a:solidFill>
                  <a:srgbClr val="363636"/>
                </a:solidFill>
              </a:rPr>
              <a:t>مفيش حفظ! الـ AI بيقرأ إجابة الطالب المقالية، بيفهم سياقها، وبيديله الدرجة مع تعليق (Feedback) يوضحله الصح والغلط.
</a:t>
            </a:r>
            <a:endParaRPr lang="en-US" dirty="0">
              <a:solidFill>
                <a:srgbClr val="363636"/>
              </a:solidFill>
            </a:endParaRPr>
          </a:p>
          <a:p>
            <a:pPr marL="0" indent="0" algn="r">
              <a:buNone/>
            </a:pPr>
            <a:endParaRPr lang="en-US" sz="1800" dirty="0">
              <a:solidFill>
                <a:srgbClr val="363636"/>
              </a:solidFill>
            </a:endParaRPr>
          </a:p>
          <a:p>
            <a:pPr marL="0" indent="0" algn="r">
              <a:buNone/>
            </a:pPr>
            <a:r>
              <a:rPr lang="en-US" sz="1800" dirty="0">
                <a:solidFill>
                  <a:srgbClr val="363636"/>
                </a:solidFill>
              </a:rPr>
              <a:t>
</a:t>
            </a:r>
            <a:r>
              <a:rPr lang="en-US" sz="1800" b="1" dirty="0">
                <a:solidFill>
                  <a:srgbClr val="363636"/>
                </a:solidFill>
              </a:rPr>
              <a:t>• تلميحات ذكية (AI Hints): </a:t>
            </a:r>
            <a:r>
              <a:rPr lang="en-US" sz="1800" dirty="0">
                <a:solidFill>
                  <a:srgbClr val="363636"/>
                </a:solidFill>
              </a:rPr>
              <a:t>الطالب لو عطل في سؤال، يقدر يطلب مساعدة، والنظام هيديله "تلميح" يقربه للإجابة.
</a:t>
            </a:r>
            <a:r>
              <a:rPr lang="en-US" sz="1800" b="1" dirty="0">
                <a:solidFill>
                  <a:srgbClr val="363636"/>
                </a:solidFill>
              </a:rPr>
              <a:t>• حماية ضد الغش (Anti-Cheat): </a:t>
            </a:r>
            <a:r>
              <a:rPr lang="en-US" sz="1800" dirty="0">
                <a:solidFill>
                  <a:srgbClr val="363636"/>
                </a:solidFill>
              </a:rPr>
              <a:t>منع النسخ واللصق، ومنع الخروج من صفحة الامتحان أو التبديل بين الشاشات.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8B5CF6"/>
                </a:solidFill>
              </a:rPr>
              <a:t>🎮 ٢. نظام التحفيز (Gamification)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7280"/>
                </a:solidFill>
              </a:rPr>
              <a:t>خلى المذاكرة إدمان وتحدي!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</a:rPr>
              <a:t>💡 هل تعلم؟ ربط المذاكرة بالمكافآت بيزود نسبة مشاركة المخدومين بنسبة ٧٠٪!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0114" y="350582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63636"/>
                </a:solidFill>
              </a:rPr>
              <a:t>• مستويات وخبرة (XP): </a:t>
            </a:r>
            <a:r>
              <a:rPr lang="en-US" sz="1800" dirty="0">
                <a:solidFill>
                  <a:srgbClr val="363636"/>
                </a:solidFill>
              </a:rPr>
              <a:t>الطالب بيبدأ من مستوى (مبتدئ) وبيعلى في الرتب مع كل امتحان.
</a:t>
            </a:r>
            <a:r>
              <a:rPr lang="en-US" sz="1800" b="1" dirty="0">
                <a:solidFill>
                  <a:srgbClr val="363636"/>
                </a:solidFill>
              </a:rPr>
              <a:t>• أوسمة (Badges): </a:t>
            </a:r>
            <a:r>
              <a:rPr lang="en-US" sz="1800" dirty="0">
                <a:solidFill>
                  <a:srgbClr val="363636"/>
                </a:solidFill>
              </a:rPr>
              <a:t>تكريمات افتراضية (مثال: وسام التفوق، وسام المواظبة).
</a:t>
            </a:r>
            <a:r>
              <a:rPr lang="en-US" sz="1800" b="1" dirty="0">
                <a:solidFill>
                  <a:srgbClr val="363636"/>
                </a:solidFill>
              </a:rPr>
              <a:t>• لوحة الشرف (Leaderboard): </a:t>
            </a:r>
            <a:r>
              <a:rPr lang="en-US" sz="1800" dirty="0">
                <a:solidFill>
                  <a:srgbClr val="363636"/>
                </a:solidFill>
              </a:rPr>
              <a:t>لوحة ترتب الأوائل لتشجيع التنافس الشريف.
</a:t>
            </a:r>
            <a:r>
              <a:rPr lang="en-US" sz="1800" b="1" dirty="0">
                <a:solidFill>
                  <a:srgbClr val="363636"/>
                </a:solidFill>
              </a:rPr>
              <a:t>• مواظبة (Streaks): </a:t>
            </a:r>
            <a:r>
              <a:rPr lang="en-US" sz="1800" dirty="0">
                <a:solidFill>
                  <a:srgbClr val="363636"/>
                </a:solidFill>
              </a:rPr>
              <a:t>عداد يومي بيحفز الطالب يحل أسئلة كل يوم عشان العداد ميصفرش!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59E0B"/>
                </a:solidFill>
              </a:rPr>
              <a:t>🎁 ٣. متجر المكافآت التفاعلي (Store)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7280"/>
                </a:solidFill>
              </a:rPr>
              <a:t>حول مجهود الطالب لمكافأة ملموسة!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59663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63636"/>
                </a:solidFill>
              </a:rPr>
              <a:t>• العملة الافتراضية: </a:t>
            </a:r>
            <a:r>
              <a:rPr lang="en-US" sz="1800" dirty="0">
                <a:solidFill>
                  <a:srgbClr val="363636"/>
                </a:solidFill>
              </a:rPr>
              <a:t>كل درجة ومستوى بيتحول لـ "نقاط" في رصيد المخدوم.
</a:t>
            </a:r>
            <a:r>
              <a:rPr lang="en-US" sz="1800" b="1" dirty="0">
                <a:solidFill>
                  <a:srgbClr val="363636"/>
                </a:solidFill>
              </a:rPr>
              <a:t>• متجر الهدايا: </a:t>
            </a:r>
            <a:r>
              <a:rPr lang="en-US" sz="1800" dirty="0">
                <a:solidFill>
                  <a:srgbClr val="363636"/>
                </a:solidFill>
              </a:rPr>
              <a:t>المخدوم بيدخل المتجر ويشتري هدايا (سواء رمزية أو حقيقية) بالنقاط اللي جمعها من تعبه.
</a:t>
            </a:r>
            <a:r>
              <a:rPr lang="en-US" sz="1800" b="1" dirty="0">
                <a:solidFill>
                  <a:srgbClr val="363636"/>
                </a:solidFill>
              </a:rPr>
              <a:t>• إدارة المتجر: </a:t>
            </a:r>
            <a:r>
              <a:rPr lang="en-US" sz="1800" dirty="0">
                <a:solidFill>
                  <a:srgbClr val="363636"/>
                </a:solidFill>
              </a:rPr>
              <a:t>الخادم بيتحكم في الهدايا المتاحة وأسعارها بالنقاط من لوحة التحكم.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F4444"/>
                </a:solidFill>
              </a:rPr>
              <a:t>📶 ٤. نظام الطوارئ (Offline Mode)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7280"/>
                </a:solidFill>
              </a:rPr>
              <a:t>لا داعي للقلق من ضعف الإنترنت!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91B1B"/>
                </a:solidFill>
              </a:rPr>
              <a:t>⚠️ مشكلة شهيرة: "</a:t>
            </a:r>
            <a:r>
              <a:rPr lang="en-US" sz="1600" b="1" dirty="0" err="1">
                <a:solidFill>
                  <a:srgbClr val="991B1B"/>
                </a:solidFill>
              </a:rPr>
              <a:t>يا</a:t>
            </a:r>
            <a:r>
              <a:rPr lang="en-US" sz="1600" b="1" dirty="0">
                <a:solidFill>
                  <a:srgbClr val="991B1B"/>
                </a:solidFill>
              </a:rPr>
              <a:t> </a:t>
            </a:r>
            <a:r>
              <a:rPr lang="ar-EG" sz="1600" b="1" dirty="0">
                <a:solidFill>
                  <a:srgbClr val="991B1B"/>
                </a:solidFill>
              </a:rPr>
              <a:t>مستر</a:t>
            </a:r>
            <a:r>
              <a:rPr lang="en-US" sz="1600" b="1" dirty="0">
                <a:solidFill>
                  <a:srgbClr val="991B1B"/>
                </a:solidFill>
              </a:rPr>
              <a:t> أنا حليت الامتحان ولما دوست تسليم النت فصل والإجابات ضاعت!"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17614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63636"/>
                </a:solidFill>
              </a:rPr>
              <a:t>• الحل السحري: </a:t>
            </a:r>
            <a:r>
              <a:rPr lang="en-US" sz="1800" dirty="0">
                <a:solidFill>
                  <a:srgbClr val="363636"/>
                </a:solidFill>
              </a:rPr>
              <a:t>المنصة بتكتشف لو النت فصل، وبتحفظ إجابات الطالب على جهازه.
</a:t>
            </a:r>
            <a:r>
              <a:rPr lang="en-US" sz="1800" b="1" dirty="0">
                <a:solidFill>
                  <a:srgbClr val="363636"/>
                </a:solidFill>
              </a:rPr>
              <a:t>• مزامنة تلقائية: </a:t>
            </a:r>
            <a:r>
              <a:rPr lang="en-US" sz="1800" dirty="0">
                <a:solidFill>
                  <a:srgbClr val="363636"/>
                </a:solidFill>
              </a:rPr>
              <a:t>أول ما الإنترنت يرجع (حتى لو بعد يوم)، المنصة بترفع النتيجة بهدوء للداتابيز بدون أي تدخل من الطالب.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B82F6"/>
                </a:solidFill>
              </a:rPr>
              <a:t>📊 ٥. لوحة تحكم متطورة للإدارة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7280"/>
                </a:solidFill>
              </a:rPr>
              <a:t>عين الإدارة على كل التفاصيل.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52548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63636"/>
                </a:solidFill>
              </a:rPr>
              <a:t>• إحصائيات ذكية: </a:t>
            </a:r>
            <a:r>
              <a:rPr lang="en-US" sz="1800" dirty="0">
                <a:solidFill>
                  <a:srgbClr val="363636"/>
                </a:solidFill>
              </a:rPr>
              <a:t>رسوم بيانية توضح مستوى الدفعة، نسب النجاح، وأكثر الأسئلة اللي الطلبة بيغلطوا فيها.
</a:t>
            </a:r>
            <a:r>
              <a:rPr lang="en-US" sz="1800" b="1" dirty="0">
                <a:solidFill>
                  <a:srgbClr val="363636"/>
                </a:solidFill>
              </a:rPr>
              <a:t>• بنك الأسئلة (Question Bank): </a:t>
            </a:r>
            <a:r>
              <a:rPr lang="en-US" sz="1800" dirty="0">
                <a:solidFill>
                  <a:srgbClr val="363636"/>
                </a:solidFill>
              </a:rPr>
              <a:t>حفظ آلاف الأسئلة وتقسيمها (سهل، متوسط، صعب) لعمل امتحانات جديدة بضغطة زر.
</a:t>
            </a:r>
            <a:r>
              <a:rPr lang="en-US" sz="1800" b="1" dirty="0">
                <a:solidFill>
                  <a:srgbClr val="363636"/>
                </a:solidFill>
              </a:rPr>
              <a:t>• متابعة المخدومين: </a:t>
            </a:r>
            <a:r>
              <a:rPr lang="en-US" sz="1800" dirty="0">
                <a:solidFill>
                  <a:srgbClr val="363636"/>
                </a:solidFill>
              </a:rPr>
              <a:t>ملف شخصي لكل طالب يوضح حضوره، درجاته، مستواه، وتاريخه بالكامل على المنصة.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59669"/>
                </a:solidFill>
              </a:rPr>
              <a:t>⛪ ٦. إمكانيات خدمية وتقنية حديثة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6B7280"/>
                </a:solidFill>
              </a:rPr>
              <a:t>منصة واحدة، كل احتياجاتك.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63745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63636"/>
                </a:solidFill>
              </a:rPr>
              <a:t>• نظام الغياب (Scanner): </a:t>
            </a:r>
            <a:r>
              <a:rPr lang="en-US" sz="1800" dirty="0">
                <a:solidFill>
                  <a:srgbClr val="363636"/>
                </a:solidFill>
              </a:rPr>
              <a:t>تسجيل حضور الطلبة للخدمة أو الاجتماعات عن طريق مسح الـ (QR Code) أو الباركود.
</a:t>
            </a:r>
            <a:r>
              <a:rPr lang="en-US" sz="1800" b="1" dirty="0">
                <a:solidFill>
                  <a:srgbClr val="363636"/>
                </a:solidFill>
              </a:rPr>
              <a:t>• المكتبة والإعلانات: </a:t>
            </a:r>
            <a:r>
              <a:rPr lang="en-US" sz="1800" dirty="0">
                <a:solidFill>
                  <a:srgbClr val="363636"/>
                </a:solidFill>
              </a:rPr>
              <a:t>رفع المراجع والكتب للطلبة، مع نظام إرسال تنبيهات وأخبار تظهر للجميع.
</a:t>
            </a:r>
            <a:r>
              <a:rPr lang="en-US" sz="1800" b="1" dirty="0">
                <a:solidFill>
                  <a:srgbClr val="363636"/>
                </a:solidFill>
              </a:rPr>
              <a:t>• تطبيق موبايل (PWA): </a:t>
            </a:r>
            <a:r>
              <a:rPr lang="en-US" sz="1800" dirty="0">
                <a:solidFill>
                  <a:srgbClr val="363636"/>
                </a:solidFill>
              </a:rPr>
              <a:t>الموقع قابل للتنزيل على أي موبايل (أندرويد أو آيفون) وبيشتغل كأنه تطبيق سريع جداً ومبيسحبش من الباقة.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21567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2937"/>
                </a:solidFill>
              </a:rPr>
              <a:t>🌟 الختام - لماذا نحن الأفضل؟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4888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63636"/>
                </a:solidFill>
              </a:rPr>
              <a:t>هذه المنصة ليست </a:t>
            </a:r>
            <a:r>
              <a:rPr lang="en-US" sz="2000" dirty="0" err="1">
                <a:solidFill>
                  <a:srgbClr val="363636"/>
                </a:solidFill>
              </a:rPr>
              <a:t>مجرد</a:t>
            </a:r>
            <a:r>
              <a:rPr lang="en-US" sz="2000" dirty="0">
                <a:solidFill>
                  <a:srgbClr val="363636"/>
                </a:solidFill>
              </a:rPr>
              <a:t> </a:t>
            </a:r>
            <a:endParaRPr lang="ar-EG" sz="2000" dirty="0">
              <a:solidFill>
                <a:srgbClr val="363636"/>
              </a:solidFill>
            </a:endParaRPr>
          </a:p>
          <a:p>
            <a:pPr marL="0" indent="0" algn="ctr">
              <a:buNone/>
            </a:pPr>
            <a:r>
              <a:rPr lang="en-US" sz="2000" dirty="0" err="1">
                <a:solidFill>
                  <a:srgbClr val="363636"/>
                </a:solidFill>
              </a:rPr>
              <a:t>موقع</a:t>
            </a:r>
            <a:r>
              <a:rPr lang="en-US" sz="2000" dirty="0">
                <a:solidFill>
                  <a:srgbClr val="363636"/>
                </a:solidFill>
              </a:rPr>
              <a:t> </a:t>
            </a:r>
            <a:r>
              <a:rPr lang="en-US" sz="2000" dirty="0" err="1">
                <a:solidFill>
                  <a:srgbClr val="363636"/>
                </a:solidFill>
              </a:rPr>
              <a:t>إلكتروني</a:t>
            </a:r>
            <a:r>
              <a:rPr lang="en-US" sz="2000" dirty="0">
                <a:solidFill>
                  <a:srgbClr val="363636"/>
                </a:solidFill>
              </a:rPr>
              <a:t> </a:t>
            </a:r>
            <a:r>
              <a:rPr lang="en-US" sz="2000" dirty="0" err="1">
                <a:solidFill>
                  <a:srgbClr val="363636"/>
                </a:solidFill>
              </a:rPr>
              <a:t>هي</a:t>
            </a:r>
            <a:r>
              <a:rPr lang="en-US" sz="2000" dirty="0">
                <a:solidFill>
                  <a:srgbClr val="363636"/>
                </a:solidFill>
              </a:rPr>
              <a:t> بيئة تعليمية حية تتفوق على العديد من المنصات التجارية المدفوعة.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06"/>
                </a:solidFill>
              </a:rPr>
              <a:t>فهي تجمع بين:</a:t>
            </a:r>
            <a:endParaRPr lang="en-US" sz="2000" dirty="0"/>
          </a:p>
          <a:p>
            <a:pPr marL="0" indent="0" algn="r">
              <a:buNone/>
            </a:pPr>
            <a:r>
              <a:rPr lang="en-US" sz="2000" b="1" dirty="0">
                <a:solidFill>
                  <a:srgbClr val="D97706"/>
                </a:solidFill>
              </a:rPr>
              <a:t>• أحدث تقنيات الذكاء الاصطناعي 🤖</a:t>
            </a:r>
            <a:endParaRPr lang="en-US" sz="2000" dirty="0"/>
          </a:p>
          <a:p>
            <a:pPr marL="0" indent="0" algn="r">
              <a:buNone/>
            </a:pPr>
            <a:r>
              <a:rPr lang="en-US" sz="2000" b="1" dirty="0">
                <a:solidFill>
                  <a:srgbClr val="D97706"/>
                </a:solidFill>
              </a:rPr>
              <a:t>• علم النفس في التحفيز (Gamification) 🎯</a:t>
            </a:r>
            <a:endParaRPr lang="en-US" sz="2000" dirty="0"/>
          </a:p>
          <a:p>
            <a:pPr marL="0" indent="0" algn="r">
              <a:buNone/>
            </a:pPr>
            <a:r>
              <a:rPr lang="en-US" sz="2000" b="1" dirty="0">
                <a:solidFill>
                  <a:srgbClr val="D97706"/>
                </a:solidFill>
              </a:rPr>
              <a:t>• استقرار تقني عالي جداً في أوقات الذروة 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</a:rPr>
              <a:t>شكراً لوقتكم، ونتطلع لخدمتكم! 🙏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635</Words>
  <Application>Microsoft Office PowerPoint</Application>
  <PresentationFormat>On-screen Show (16:9)</PresentationFormat>
  <Paragraphs>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Al-Hekaya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Al-Hekaya Features Presentation</dc:title>
  <dc:subject>Platform Features</dc:subject>
  <dc:creator>Al-Hekaya Platform</dc:creator>
  <cp:lastModifiedBy>Kerollos Samy</cp:lastModifiedBy>
  <cp:revision>2</cp:revision>
  <dcterms:created xsi:type="dcterms:W3CDTF">2026-06-29T06:39:58Z</dcterms:created>
  <dcterms:modified xsi:type="dcterms:W3CDTF">2026-06-29T06:44:21Z</dcterms:modified>
</cp:coreProperties>
</file>